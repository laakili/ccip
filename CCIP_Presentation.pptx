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822960"/>
            <a:ext cx="5029200" cy="5029200"/>
          </a:xfrm>
          <a:prstGeom prst="ellipse">
            <a:avLst/>
          </a:prstGeom>
          <a:solidFill>
            <a:srgbClr val="0F1E3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89520" y="1554480"/>
            <a:ext cx="3566160" cy="3566160"/>
          </a:xfrm>
          <a:prstGeom prst="ellipse">
            <a:avLst/>
          </a:prstGeom>
          <a:noFill/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645920" cy="411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CRISIS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2196F3"/>
                </a:solidFill>
                <a:latin typeface="Calibri"/>
              </a:rP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64992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DCE8"/>
                </a:solidFill>
                <a:latin typeface="Calibri"/>
              </a:rPr>
              <a:t>Surveillance satellitaire des crises environnementales au Maroc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Sentinel-1 SAR  |  ESA SNAP  |  GDAL / OGR  |  Streamlit  | 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1828800" cy="347472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FF"/>
                </a:solidFill>
                <a:latin typeface="Calibri"/>
              </a:rPr>
              <a:t>v1.0  Avril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4663440"/>
            <a:ext cx="2194560" cy="347472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4663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AF50"/>
                </a:solidFill>
                <a:latin typeface="Calibri"/>
              </a:rPr>
              <a:t>Module Inondation ACTIF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Contexte &amp; Problematique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5394960" cy="51206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  <a:latin typeface="Calibri"/>
              </a:rPr>
              <a:t>Defis de surveillance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Le Maroc est expose aux inondations,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feux de foret, seismes et secheresses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La reponse terrain est limitee par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l'etendue geographique et l'acces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difficile aux zones sinistrees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Besoin d'une estimation rapide des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surfaces inondees a l'echelle communale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Inondations 2026 (Gharb / Loukkos) :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cartographie urgente en moins de 24h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987552"/>
            <a:ext cx="5852160" cy="51206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789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  <a:latin typeface="Calibri"/>
              </a:rPr>
              <a:t>Solution CCIP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36192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Traitement automatise des images SAR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Sentinel-1 (tout temps, jour et nuit)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Pipeline en 3 etapes : pretraitement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SNAP, seuillage, vectorisation + stats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Cartographie a l'echelle des communes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(1 515 communes GADM L4)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Interface web intuitive — resultats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disponibles en ~2-3 minutes</a:t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D0DCE8"/>
                </a:solidFill>
                <a:latin typeface="Calibri"/>
              </a:rPr>
              <a:t>Deployable en Docker sur serveur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Architecture de la Plateforme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50292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521440" cy="1188720"/>
          </a:xfrm>
          <a:prstGeom prst="rect">
            <a:avLst/>
          </a:prstGeom>
          <a:solidFill>
            <a:srgbClr val="06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28016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0607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COUCHE DONNEES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813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Sentinel-1 GRD (Copernicus Open Access Hub)  |  GADM v4.1 Maroc Level 4 (1 515 communes)  |  SRTM 1Sec HGT (DEM terrain)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19456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9152"/>
            <a:ext cx="11521440" cy="1188720"/>
          </a:xfrm>
          <a:prstGeom prst="rect">
            <a:avLst/>
          </a:prstGeom>
          <a:solidFill>
            <a:srgbClr val="06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59152"/>
            <a:ext cx="128016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4140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COUCHE TRAITEMENT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83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ESA SNAP 13.0 GPT (Java, XML batch graphs)  |  GDAL / OGR Python API  |  QGIS Python 3.12  |  scipy.ndimage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54787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12464"/>
            <a:ext cx="11521440" cy="1188720"/>
          </a:xfrm>
          <a:prstGeom prst="rect">
            <a:avLst/>
          </a:prstGeom>
          <a:solidFill>
            <a:srgbClr val="06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12464"/>
            <a:ext cx="128016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7673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Calibri"/>
              </a:rPr>
              <a:t>COUCHE METIER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187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Pipeline TP1 / TP2 / TP3  |  Gestion des jobs (threading, state.json)  |  Rapports HTML auto-generes  |  Statistiques communes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90118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065775"/>
            <a:ext cx="11521440" cy="1188720"/>
          </a:xfrm>
          <a:prstGeom prst="rect">
            <a:avLst/>
          </a:prstGeom>
          <a:solidFill>
            <a:srgbClr val="20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065775"/>
            <a:ext cx="128016" cy="1188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12063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800"/>
                </a:solidFill>
                <a:latin typeface="Calibri"/>
              </a:rPr>
              <a:t>COUCHE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541263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Streamlit 1.50 + st.components.v1.html()  |  Interface multimodule  |  Selecteur 50+ zones Maroc  |  Telechargements CSV / SHP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Stack Technologique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1148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2743200" cy="25146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ESA SNAP 13.0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Preprocessement 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2821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Apply-Orbit -&gt; TNR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66543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Calibration (Sigma0)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0487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Speckle Refined Lee 7x7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Terrain Correction SRTM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815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LinearToFromdB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987552"/>
            <a:ext cx="2743200" cy="25146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987552"/>
            <a:ext cx="27432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987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GDAL / OGR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3898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Geotraitement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72821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gdal.Polygonize()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066543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Reprojection WGS84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40487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Intersection OGR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74320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Statistiques spatiales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0815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Export Shapefile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987552"/>
            <a:ext cx="2743200" cy="25146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987552"/>
            <a:ext cx="27432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987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Streamlit 1.50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13898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Interface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172821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Multipage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066543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st.components.html()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240487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Progression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274320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Telechargements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30815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Theme sombre custom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987552"/>
            <a:ext cx="2743200" cy="25146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987552"/>
            <a:ext cx="274320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987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13898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Ubuntu 22.04 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172821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OpenJDK 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066543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Python 3.12 + GDAL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40487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mem_limit: 16g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74320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shm_size: 2g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0815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Healthcheck curl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114800"/>
            <a:ext cx="2743200" cy="25146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1148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114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Sentinel-1 SAR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5171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Mode IW GRDH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8554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Polarisation VH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1937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Resolution 10 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5321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Tout temps J/N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8704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Revisit 6 jours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20877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Gratuit (Copernicus)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4114800"/>
            <a:ext cx="2743200" cy="25146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46120" y="4114800"/>
            <a:ext cx="27432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46120" y="4114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GADM v4.1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45171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- 1 515 communes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554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Niveau 4 (douar)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51937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Maroc complet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37560" y="55321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Format Shapefile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58704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Projections WGS84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37560" y="620877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Libre et gratuit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114800"/>
            <a:ext cx="2743200" cy="25146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4114800"/>
            <a:ext cx="27432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4114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Python 3.12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59" y="45171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numpy / pandas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59" y="48554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scipy.ndimage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59" y="51937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json / threading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59" y="55321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uuid / subprocess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59" y="58704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osgeo.gdal / ogr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59" y="620877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osgeo.osr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89720" y="4114800"/>
            <a:ext cx="2743200" cy="25146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89720" y="4114800"/>
            <a:ext cx="274320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89720" y="4114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QGIS Python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81160" y="45171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Scripts embarques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81160" y="48554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Acces GDAL natif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81160" y="51937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Subprocess isole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81160" y="55321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Env macOS / Linux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81160" y="58704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PYTHONHOME / PATH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81160" y="620877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- QGIS_ENV adaptatif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Pipeline de Traitement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50292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TP1  Difference d'amplitude (Avant / Apres)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60020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Image
Avant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17904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325880"/>
            <a:ext cx="1600200" cy="65836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32588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DCE8"/>
                </a:solidFill>
                <a:latin typeface="Calibri"/>
              </a:rPr>
              <a:t>SNAP
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517904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1376" y="1325880"/>
            <a:ext cx="160020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132588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Image
Apres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1517904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325880"/>
            <a:ext cx="1600200" cy="65836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2588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DCE8"/>
                </a:solidFill>
                <a:latin typeface="Calibri"/>
              </a:rPr>
              <a:t>SNAP
GPT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1517904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1325880"/>
            <a:ext cx="1600200" cy="6583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132588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Diff
&gt;3dB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2" y="1517904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325880"/>
            <a:ext cx="1600200" cy="6583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132588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RGB
Composite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04825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809A"/>
                </a:solidFill>
                <a:latin typeface="Calibri"/>
              </a:rPr>
              <a:t>Chaine SNAP : Apply-Orbit &gt; TNR &gt; Calibration(Sigma0) &gt; Speckle(Refined Lee 7x7) &gt; TC(SRTM 10m UTM) &gt;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395728"/>
            <a:ext cx="11430000" cy="22860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4871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TP2  Seuillage image unique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871216"/>
            <a:ext cx="160020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871216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Image
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3063240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12848" y="2871216"/>
            <a:ext cx="1600200" cy="65836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12848" y="2871216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DCE8"/>
                </a:solidFill>
                <a:latin typeface="Calibri"/>
              </a:rPr>
              <a:t>SNAP
GPT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3048" y="3063240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1376" y="2871216"/>
            <a:ext cx="1600200" cy="6583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1376" y="2871216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s0_VH_dB
&lt; -26dB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3063240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9904" y="2871216"/>
            <a:ext cx="1600200" cy="6583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2871216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Masque
Eau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02736"/>
            <a:ext cx="11430000" cy="22860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69417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TP3  Vectorisation &amp; Statistiques (commun TP1+TP2)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078224"/>
            <a:ext cx="1600200" cy="804672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078224"/>
            <a:ext cx="1600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0DCE8"/>
                </a:solidFill>
                <a:latin typeface="Calibri"/>
              </a:rPr>
              <a:t>Lissage
Gaussien
s=2.0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4343400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12848" y="4078224"/>
            <a:ext cx="1600200" cy="804672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12848" y="4078224"/>
            <a:ext cx="1600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0DCE8"/>
                </a:solidFill>
                <a:latin typeface="Calibri"/>
              </a:rPr>
              <a:t>K-means
Natural
Breaks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3048" y="4343400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51376" y="4078224"/>
            <a:ext cx="1600200" cy="8046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51376" y="4078224"/>
            <a:ext cx="1600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gdal.
Polygonize
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51576" y="4343400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9904" y="4078224"/>
            <a:ext cx="1600200" cy="804672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9904" y="4078224"/>
            <a:ext cx="1600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0DCE8"/>
                </a:solidFill>
                <a:latin typeface="Calibri"/>
              </a:rPr>
              <a:t>Filtre
&gt;0.5ha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0104" y="4343400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28432" y="4078224"/>
            <a:ext cx="1600200" cy="8046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28432" y="4078224"/>
            <a:ext cx="1600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OGR x
GADM L4
1515 comm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28632" y="4343400"/>
            <a:ext cx="338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4078224"/>
            <a:ext cx="1600200" cy="8046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66960" y="4078224"/>
            <a:ext cx="1600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Stats
CSV +
Rapport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97433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809A"/>
                </a:solidFill>
                <a:latin typeface="Calibri"/>
              </a:rPr>
              <a:t>UTM auto-detecte : EPSG:32629 (lon &lt; -6.0) ou EPSG:32630 (lon &gt; -6.0)  |  Surface min filtrage : 0.5 ha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Interface Utilisateur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1148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5394960" cy="2743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Calibri"/>
              </a:rPr>
              <a:t>Page d'accueil  (app.py)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Rendu via st.components.v1.html()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  (bypass parser Markdown Streamlit)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Animation etoiles 130 points + orbital CSS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Navbar fixe avec logo CRTS brande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- 5 modules : Inondation (actif), Incendie,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  Seisme, Tempete, Secheresse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Theme sombre : #0b1422 / accent #2196f3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987552"/>
            <a:ext cx="5852160" cy="2743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78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Module Inondation  (1_Inondation.py)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Sidebar : mode TP1/TP2, chemins images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Selecteur zone : 50+ regions/provinces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Detection UTM en temps reel (st.caption)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Barre de progression live (refresh 2s)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Stats par commune/province expandables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Telechargement CSV + Shapefile + HTML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Rapport HTML auto-genere par job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40480"/>
            <a:ext cx="11430000" cy="233172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Couverture Geographique  50+ zones predefinies au Maroc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15968"/>
            <a:ext cx="1719072" cy="8046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15968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12 Regions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0008" y="4315968"/>
            <a:ext cx="1719072" cy="8046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0008" y="4315968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40+ Provinces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4315968"/>
            <a:ext cx="1719072" cy="8046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4315968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1 515 Communes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3" y="4315968"/>
            <a:ext cx="1719072" cy="8046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3" y="4315968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EPSG 32629
UTM 29N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1" y="4315968"/>
            <a:ext cx="1719072" cy="8046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4315968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EPSG 32630
UTM 30N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4315968"/>
            <a:ext cx="1719072" cy="8046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4315968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GADM v4.1
Maroc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Resultats  Inondations Gharb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50292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2834640" cy="10972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2834640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1556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44336"/>
                </a:solidFill>
                <a:latin typeface="Calibri"/>
              </a:rPr>
              <a:t>1 678 155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6420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CE8"/>
                </a:solidFill>
                <a:latin typeface="Calibri"/>
              </a:rPr>
              <a:t>ha inondees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987552"/>
            <a:ext cx="2834640" cy="10972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987552"/>
            <a:ext cx="2834640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11556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9800"/>
                </a:solidFill>
                <a:latin typeface="Calibri"/>
              </a:rPr>
              <a:t>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66420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CE8"/>
                </a:solidFill>
                <a:latin typeface="Calibri"/>
              </a:rPr>
              <a:t>communes touchees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987552"/>
            <a:ext cx="2834640" cy="10972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987552"/>
            <a:ext cx="2834640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11556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66420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CE8"/>
                </a:solidFill>
                <a:latin typeface="Calibri"/>
              </a:rPr>
              <a:t>provinces affectees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987552"/>
            <a:ext cx="2834640" cy="10972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4584" y="987552"/>
            <a:ext cx="2834640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11556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AF50"/>
                </a:solidFill>
                <a:latin typeface="Calibri"/>
              </a:rPr>
              <a:t>~2.5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166420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CE8"/>
                </a:solidFill>
                <a:latin typeface="Calibri"/>
              </a:rPr>
              <a:t>temps traitement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212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Calibri"/>
              </a:rPr>
              <a:t>Top 8 Provinces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06040"/>
            <a:ext cx="2194560" cy="274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606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Province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7168" y="2606040"/>
            <a:ext cx="1554480" cy="274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7168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Surface (ha)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6" y="2606040"/>
            <a:ext cx="1188720" cy="274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9936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Part (%)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98648"/>
            <a:ext cx="219456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87168" y="2898648"/>
            <a:ext cx="155448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59936" y="2898648"/>
            <a:ext cx="118872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29260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Chefchaouen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29260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417,584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9936" y="29260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24.9%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246120"/>
            <a:ext cx="219456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87168" y="3246120"/>
            <a:ext cx="155448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59936" y="3246120"/>
            <a:ext cx="118872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27355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Larache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327355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277,017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9936" y="327355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16.5%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593591"/>
            <a:ext cx="219456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87168" y="3593591"/>
            <a:ext cx="155448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59936" y="3593591"/>
            <a:ext cx="118872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36210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Sidi Kacem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62102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267,625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59936" y="36210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15.9%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941064"/>
            <a:ext cx="219456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87168" y="3941064"/>
            <a:ext cx="155448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59936" y="3941064"/>
            <a:ext cx="118872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39684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Tetouan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87168" y="39684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246,123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59936" y="39684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14.7%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288536"/>
            <a:ext cx="219456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87168" y="4288536"/>
            <a:ext cx="155448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59936" y="4288536"/>
            <a:ext cx="118872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4315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Kenitra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87168" y="43159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228,513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59936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13.6%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636008"/>
            <a:ext cx="219456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87168" y="4636008"/>
            <a:ext cx="155448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59936" y="4636008"/>
            <a:ext cx="118872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Taounate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7168" y="4663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111,730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59936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6.7%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983480"/>
            <a:ext cx="219456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487168" y="4983480"/>
            <a:ext cx="155448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59936" y="4983480"/>
            <a:ext cx="1188720" cy="32918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4048" y="5010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Tanger-Assilah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87168" y="50109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91,337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59936" y="5010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5.4%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330952"/>
            <a:ext cx="219456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487168" y="5330952"/>
            <a:ext cx="155448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59936" y="5330952"/>
            <a:ext cx="1188720" cy="32918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4048" y="5358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Fahs Anjra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87168" y="53583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38,226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59936" y="53583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2.3%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0" y="221284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Calibri"/>
              </a:rPr>
              <a:t>Surface inondee par province (ha)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0" y="2679192"/>
            <a:ext cx="6126480" cy="30175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0" y="2606040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Chefchaouen  417,584 ha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69280" y="3154680"/>
            <a:ext cx="4064186" cy="3017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0" y="3081528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Larache  277,017 ha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0" y="3630168"/>
            <a:ext cx="3926393" cy="3017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0" y="3557016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Sidi Kacem  267,625 ha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0" y="4105656"/>
            <a:ext cx="3610932" cy="3017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0" y="4032504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Tetouan  246,123 ha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0" y="4581144"/>
            <a:ext cx="3352571" cy="3017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69280" y="4507992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Kenitra  228,513 ha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80" y="5056632"/>
            <a:ext cx="1639218" cy="3017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69280" y="4983480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Taounate  111,730 ha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0" y="5532120"/>
            <a:ext cx="1340028" cy="3017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0" y="5458968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Tanger-Assilah  91,337 ha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0" y="6007608"/>
            <a:ext cx="560823" cy="3017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69280" y="5934456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CE8"/>
                </a:solidFill>
                <a:latin typeface="Calibri"/>
              </a:rPr>
              <a:t>Fahs Anjra  38,226 ha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" y="644652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809A"/>
                </a:solidFill>
                <a:latin typeface="Calibri"/>
              </a:rPr>
              <a:t>Job: 150438b22e24  |  S1A IW GRDH 20260122 + 20260203  |  Mode TP1  |  AOI: lon[-6.8,-4.8] lat[33.5,35.8]  |  EPSG:32630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Deploiement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1148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5394960" cy="51206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539496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2"/>
                </a:solidFill>
                <a:latin typeface="Calibri"/>
              </a:rPr>
              <a:t>Service ccip  (Production)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Base : Ubuntu 22.04 LTS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Runtime : OpenJDK 17 + Python 3.12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GDAL : apt (python3-gdal)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ESA SNAP 13 : install silencieux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GADM L4 : /app/data/gadm/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Port expose : 8501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mem_limit: 16g  /  shm_size: 2g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Healthcheck : curl /_stcore/health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ENTRYPOINT : /entrypoint.sh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Variables ENV : GADM_PATH, RESULTS_DIR,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  SNAP_GPT_PATH, PYTHON_EXEC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87552"/>
            <a:ext cx="5852160" cy="51206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987552"/>
            <a:ext cx="585216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98755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2"/>
                </a:solidFill>
                <a:latin typeface="Calibri"/>
              </a:rPr>
              <a:t>Service ccip-dev  (Developpement)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Profile : dev (optionnel)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Port expose : 8502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SNAP : monte depuis macOS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  /Applications/esa-snap:/snap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Code source : volume monte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ARG INSTALL_SNAP=false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Reload auto en mode dev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Commandes Docker :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  docker compose up ccip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  docker compose --profile dev \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    up ccip-dev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  docker compose build --no-cache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Gestion des Jobs &amp; Fichiers de Sortie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50292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5394960" cy="2743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Calibri"/>
              </a:rPr>
              <a:t>Cycle de vie d'un 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005840" cy="329184"/>
          </a:xfrm>
          <a:prstGeom prst="rect">
            <a:avLst/>
          </a:prstGeom>
          <a:solidFill>
            <a:srgbClr val="60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72768"/>
            <a:ext cx="246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508760"/>
            <a:ext cx="1005840" cy="32918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15087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1572768"/>
            <a:ext cx="246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2656" y="1508760"/>
            <a:ext cx="1005840" cy="32918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15087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1572768"/>
            <a:ext cx="246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1508760"/>
            <a:ext cx="1005840" cy="32918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4" y="15087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ID : uuid4().hex[:12]  ex: 150438b22e24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State : results/{id}/state.json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Thread : threading.Thread (background)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Progression : 5% -&gt; 100% (5 etapes)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Logs : ts / level / msg (INFO,SNAP,QGIS,ERROR)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Refresh UI : st.rerun() toutes les 2 secondes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987552"/>
            <a:ext cx="5852160" cy="2743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078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Fichiers de sortie  results/{job_id}/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4813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before_dB.tif / after_dB.tif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48132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Rasters preprocesses (dB)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3736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amplitude_diff_dB.tif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173736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Difference TP1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9933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RGB_composite.tif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1993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Composite fausses couleurs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4942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mask_water.tif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2494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Masque binaire eau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5054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ZI_inondation.shp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5054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Zones inondees (UTM)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7614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ZI_inondation_wgs84.shp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76148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Zones inondees (WGS84)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01752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statistiques_communes.csv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01752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Stats par commune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735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provinces/{nom}.csv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2735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Detail par province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5295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rapport.html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5295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Rapport HTML auto-genere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78561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state.json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37856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9A"/>
                </a:solidFill>
                <a:latin typeface="Calibri"/>
              </a:rPr>
              <a:t>Etat + logs du job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40480"/>
            <a:ext cx="11430000" cy="224028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91363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Calibri"/>
              </a:rPr>
              <a:t>state.json  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251960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{ "id": "150438b22e24", "status": "done", "progress": 100,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81144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  "logs": [{"ts":"22:05:32","level":"INFO","msg":"=== DEMARRAGE ==="},...],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1032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  "results": {"rgb":"...RGB_composite.tif","stats_csv":"...communes.csv",...},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239512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  "params": {"epsg":32630,"seuil_db":-26.0,"aoi":{...}},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568696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  "created":"2026-03-31T22:05:32", "finished":"2026-03-31T22:07:57" 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Performances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5486400" cy="51206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12 Tests de validation  Tous PASSES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813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SNAP disponible (gpt --version)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QGIS Python disponible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762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GDAL importable (gdal.VersionInfo)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2374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237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GADM shapefile accessible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7121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8712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Config variables d'environnement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186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186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Creation job + UUID unique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Generation XML SNAP (TP1 et TP2)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13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13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Ecriture state.json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611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611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gdal.Polygonize() -- sortie .shp creee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085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6085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OGR intersection GADM 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560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9560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Export CSV statistiques communes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[OK]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03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  <a:latin typeface="Calibri"/>
              </a:rPr>
              <a:t>Generation rapport HTML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987552"/>
            <a:ext cx="5760720" cy="242316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Calibri"/>
              </a:rPr>
              <a:t>Metriques de 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4813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Etape SNAP (x2)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1517904"/>
            <a:ext cx="2286000" cy="274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1517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~90 sec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8653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Script QGIS TP1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1901952"/>
            <a:ext cx="2286000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~30 sec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2494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TP3 vectorisation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2286000"/>
            <a:ext cx="2286000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~30 sec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6334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Total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2670048"/>
            <a:ext cx="2286000" cy="274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670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~2.5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017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Taille image S1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054096"/>
            <a:ext cx="2286000" cy="274320"/>
          </a:xfrm>
          <a:prstGeom prst="rect">
            <a:avLst/>
          </a:prstGeom>
          <a:solidFill>
            <a:srgbClr val="60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30540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~700 MB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34015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E8"/>
                </a:solidFill>
                <a:latin typeface="Calibri"/>
              </a:rPr>
              <a:t>Resolution sortie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438144"/>
            <a:ext cx="2286000" cy="274320"/>
          </a:xfrm>
          <a:prstGeom prst="rect">
            <a:avLst/>
          </a:prstGeom>
          <a:solidFill>
            <a:srgbClr val="60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10 m/pixel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520440"/>
            <a:ext cx="5760720" cy="2587752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611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  <a:latin typeface="Calibri"/>
              </a:rPr>
              <a:t>Limitations connues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0233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Acces internet requis (SRTM DEM download)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Images &lt; 3 GB recommandees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ESA SNAP installe manuellement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Pas de download auto Sentinel Hub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Visualisation raster non integree dans UI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- Un seul job a la fois (threading simple)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Evolutions Futures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36576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3749039" cy="52120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3749039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2"/>
                </a:solidFill>
                <a:latin typeface="Calibri"/>
              </a:rPr>
              <a:t>Court terme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Download auto Sentinel Hub/CDSE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Visualisation raster (Leaflet.js)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7355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Comparaison avant/apres integree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9664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Export PDF rapport de crise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65776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Authentification utilisateurs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987552"/>
            <a:ext cx="3749039" cy="52120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987552"/>
            <a:ext cx="3749039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9875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2"/>
                </a:solidFill>
                <a:latin typeface="Calibri"/>
              </a:rPr>
              <a:t>Moyen terme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4813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Module Incendie (Sentinel-2 NDVI)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Module Seisme (InSAR deformation)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27355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Historique evenements (BDD)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169664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API REST pour integration externe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065776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Multi-jobs (Celery + Redis)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987552"/>
            <a:ext cx="3749039" cy="52120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987552"/>
            <a:ext cx="3749039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9875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2"/>
                </a:solidFill>
                <a:latin typeface="Calibri"/>
              </a:rPr>
              <a:t>Long terme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4813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Module Secheresse (SPI/NDVI)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377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Module Tempete (Sentinel-1 wind)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7355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Detection auto Deep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69664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Integration MODIS / Landsat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065776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E8"/>
                </a:solidFill>
                <a:latin typeface="Calibri"/>
              </a:rPr>
              <a:t>- Dashboard national temps reel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731520"/>
            <a:ext cx="5486400" cy="5486400"/>
          </a:xfrm>
          <a:prstGeom prst="ellipse">
            <a:avLst/>
          </a:prstGeom>
          <a:solidFill>
            <a:srgbClr val="0A1828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06640" y="1554480"/>
            <a:ext cx="3840480" cy="3840480"/>
          </a:xfrm>
          <a:prstGeom prst="ellipse">
            <a:avLst/>
          </a:prstGeom>
          <a:noFill/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645920" cy="411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CRISIS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196F3"/>
                </a:solidFill>
                <a:latin typeface="Calibri"/>
              </a:rP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CE8"/>
                </a:solidFill>
                <a:latin typeface="Calibri"/>
              </a:rPr>
              <a:t>[OK]  Pipeline SAR automatise : de l'image brute aux stats communales</a:t>
            </a:r>
          </a:p>
          <a:p>
            <a:pPr algn="l"/>
            <a:r>
              <a:rPr sz="1400" b="0">
                <a:solidFill>
                  <a:srgbClr val="D0DCE8"/>
                </a:solidFill>
                <a:latin typeface="Calibri"/>
              </a:rPr>
              <a:t>[OK]  3 modules : TP1 (avant/apres), TP2 (seuillage), TP3 (vectorisation)</a:t>
            </a:r>
          </a:p>
          <a:p>
            <a:pPr algn="l"/>
            <a:r>
              <a:rPr sz="1400" b="0">
                <a:solidFill>
                  <a:srgbClr val="D0DCE8"/>
                </a:solidFill>
                <a:latin typeface="Calibri"/>
              </a:rPr>
              <a:t>[OK]  Couverture nationale : 1 515 communes, 50+ zones predefinies</a:t>
            </a:r>
          </a:p>
          <a:p>
            <a:pPr algn="l"/>
            <a:r>
              <a:rPr sz="1400" b="0">
                <a:solidFill>
                  <a:srgbClr val="D0DCE8"/>
                </a:solidFill>
                <a:latin typeface="Calibri"/>
              </a:rPr>
              <a:t>[OK]  Production-ready : Docker, healthcheck, env-vars, multi-env</a:t>
            </a:r>
          </a:p>
          <a:p>
            <a:pPr algn="l"/>
            <a:r>
              <a:rPr sz="1400" b="0">
                <a:solidFill>
                  <a:srgbClr val="D0DCE8"/>
                </a:solidFill>
                <a:latin typeface="Calibri"/>
              </a:rPr>
              <a:t>[OK]  Valide sur cas reel : Gharb 2026 -- 1 678 155 ha en 2.5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809A"/>
                </a:solidFill>
                <a:latin typeface="Calibri"/>
              </a:rPr>
              <a:t>crts.gov.ma  |  contact@crts.gov.ma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9A"/>
                </a:solidFill>
                <a:latin typeface="Calibri"/>
              </a:rPr>
              <a:t>Centre Royal de Teledetection Spatiale - Rabat, Maroc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