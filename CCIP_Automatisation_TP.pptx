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0" y="731520"/>
            <a:ext cx="4754880" cy="4754880"/>
          </a:xfrm>
          <a:prstGeom prst="ellipse">
            <a:avLst/>
          </a:prstGeom>
          <a:solidFill>
            <a:srgbClr val="0A1828"/>
          </a:solidFill>
          <a:ln w="1524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1463040"/>
            <a:ext cx="3291840" cy="3291840"/>
          </a:xfrm>
          <a:prstGeom prst="ellipse">
            <a:avLst/>
          </a:prstGeom>
          <a:noFill/>
          <a:ln w="889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1645920" cy="3840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B1422"/>
                </a:solidFill>
                <a:latin typeface="Calibri"/>
              </a:rPr>
              <a:t>CRTS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Automatisation des Travaux Pratiques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196F3"/>
                </a:solidFill>
                <a:latin typeface="Calibri"/>
              </a:rPr>
              <a:t>TP1  ·  TP2  ·  TP3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45720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8"/>
                </a:solidFill>
                <a:latin typeface="Calibri"/>
              </a:rPr>
              <a:t>Traitement SAR Sentinel-1 — de l'étape manuelle au pipeline automatisé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809A"/>
                </a:solidFill>
                <a:latin typeface="Calibri"/>
              </a:rPr>
              <a:t>ESA SNAP  ·  GDAL / OGR Python API  ·  scipy  ·  Streamlit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2889503" cy="2926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7"/>
            <a:ext cx="2706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2"/>
                </a:solidFill>
                <a:latin typeface="Calibri"/>
              </a:rPr>
              <a:t>TP1 : Différence amplitude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114800"/>
            <a:ext cx="2487168" cy="29260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4133087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2"/>
                </a:solidFill>
                <a:latin typeface="Calibri"/>
              </a:rPr>
              <a:t>TP2 : Seuillage direct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4114800"/>
            <a:ext cx="2788920" cy="2926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133087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422"/>
                </a:solidFill>
                <a:latin typeface="Calibri"/>
              </a:rPr>
              <a:t>TP3 : Vectorisation stats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809A"/>
                </a:solidFill>
                <a:latin typeface="Calibri"/>
              </a:rPr>
              <a:t>M. LAAKILI  —  Avril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CRTS — Centre Royal de Télédétection Spatiale  |  CCIP v1.0  | 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 d'Orchestration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9A"/>
                </a:solidFill>
                <a:latin typeface="Calibri"/>
              </a:rPr>
              <a:t>Classe Job + FloodPipeline — pipeline.py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24128"/>
            <a:ext cx="45720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486400" cy="246888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548640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Classe  Job  — suivi en temps réel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5394960" cy="1920240"/>
          </a:xfrm>
          <a:prstGeom prst="rect">
            <a:avLst/>
          </a:prstGeom>
          <a:solidFill>
            <a:srgbClr val="26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36576" cy="19202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62763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FF"/>
                </a:solidFill>
                <a:latin typeface="Consolas"/>
              </a:rPr>
              <a:t>class Job: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874519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self.id       = job_id       # ex: '150438b22e24'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12140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self.status   = 'pending'    # pending→running→done/error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36829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self.progress = 0            # 0 à 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61518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self.logs     = []           # logs horodatés [ts,level,msg]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28620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self.results  = {}           # chemins fichiers de sortie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10896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self.outdir   = RESULTS_DIR / job_id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143000"/>
            <a:ext cx="5897880" cy="246888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1143000"/>
            <a:ext cx="589788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143000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FloodPipeline.run() — sélection automatique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554480"/>
            <a:ext cx="5806440" cy="1920240"/>
          </a:xfrm>
          <a:prstGeom prst="rect">
            <a:avLst/>
          </a:prstGeom>
          <a:solidFill>
            <a:srgbClr val="26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1554480"/>
            <a:ext cx="36576" cy="19202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62763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FF"/>
                </a:solidFill>
                <a:latin typeface="Consolas"/>
              </a:rPr>
              <a:t>def run(self):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874519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# Deux images → TP1 (différence amplitude)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12140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if image_before and image_after: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368296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  self._run_tp1()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615184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# Une image → TP2 (seuillage direct)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86207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elif image_after: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10896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  self._run_tp2()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749039"/>
            <a:ext cx="11704320" cy="141732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8221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Calibri"/>
              </a:rPr>
              <a:t>Cycle de vie d'un Job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87952"/>
            <a:ext cx="2286000" cy="347472"/>
          </a:xfrm>
          <a:prstGeom prst="rect">
            <a:avLst/>
          </a:prstGeom>
          <a:solidFill>
            <a:srgbClr val="60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187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PENDING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25196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809A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4187952"/>
            <a:ext cx="2286000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4187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RUNNING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425196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809A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187952"/>
            <a:ext cx="22860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187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DONE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25196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809A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4187952"/>
            <a:ext cx="2286000" cy="34747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4187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1422"/>
                </a:solidFill>
                <a:latin typeface="Calibri"/>
              </a:rPr>
              <a:t>ERROR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617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809A"/>
                </a:solidFill>
                <a:latin typeface="Calibri"/>
              </a:rPr>
              <a:t>Sauvegarde automatique : results/{job_id}/state.json  à chaque étape  |  Refresh UI : st.rerun() toutes les 2 secondes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CRTS — Centre Royal de Télédétection Spatiale  |  CCIP v1.0  |  Avril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TP1 — Différence d'Amplitude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9A"/>
                </a:solidFill>
                <a:latin typeface="Calibri"/>
              </a:rPr>
              <a:t>Deux images Sentinel-1 (Avant / Après)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24128"/>
            <a:ext cx="45720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577840" cy="265176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64008" cy="2651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  <a:latin typeface="Calibri"/>
              </a:rPr>
              <a:t>Principe physique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Une surface d'eau libre est spéculaire :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le signal radar est renvoyé loin du capteur.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→  σ₀ diminue fortement après une inondation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→  Seuil : before_dB − after_dB  &gt;  3 dB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→  Pixels &gt; seuil = zone inondée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Résultat : masque binaire mask_water.tif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43000"/>
            <a:ext cx="5897880" cy="265176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64008" cy="2651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070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Manuel  →  Automatisé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00200"/>
            <a:ext cx="5897880" cy="356616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63677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 Ouvrir SNAP + importer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63677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 Chemin image → paramètre 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975104"/>
            <a:ext cx="5897880" cy="3566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0116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 Appliquer 6 opérateurs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01168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 Graphe XML auto-généré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350008"/>
            <a:ext cx="5897880" cy="356616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23865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 Exporter GeoTIFF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38658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 Sortie directe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724912"/>
            <a:ext cx="5897880" cy="356616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276148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 Calc. diff. QGIS raster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76148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 NumPy : bd − ad &gt; seuil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099815"/>
            <a:ext cx="5897880" cy="356616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3136391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 Créer RGB manuellement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136391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 Script GDAL 3 bandes auto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886200"/>
            <a:ext cx="11704320" cy="109728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9502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96F3"/>
                </a:solidFill>
                <a:latin typeface="Calibri"/>
              </a:rPr>
              <a:t>Flux d'exécution TP1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279392"/>
            <a:ext cx="1234440" cy="5943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27939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Image
Avant .zip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425696"/>
            <a:ext cx="246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4279392"/>
            <a:ext cx="1234440" cy="59436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55648" y="427939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0DCE8"/>
                </a:solidFill>
                <a:latin typeface="Calibri"/>
              </a:rPr>
              <a:t>SNAP GPT
BEFORE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0088" y="4425696"/>
            <a:ext cx="246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36976" y="4279392"/>
            <a:ext cx="1234440" cy="5943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36976" y="427939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Image
Après .zip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1416" y="4425696"/>
            <a:ext cx="246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18304" y="4279392"/>
            <a:ext cx="1234440" cy="59436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427939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0DCE8"/>
                </a:solidFill>
                <a:latin typeface="Calibri"/>
              </a:rPr>
              <a:t>SNAP GPT
AFTER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52744" y="4425696"/>
            <a:ext cx="246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4279392"/>
            <a:ext cx="1234440" cy="59436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27939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0DCE8"/>
                </a:solidFill>
                <a:latin typeface="Calibri"/>
              </a:rPr>
              <a:t>Alignement
GDALWarp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4072" y="4425696"/>
            <a:ext cx="246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4279392"/>
            <a:ext cx="1234440" cy="5943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427939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diff=bd−ad
&gt;3dB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4425696"/>
            <a:ext cx="246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62288" y="4279392"/>
            <a:ext cx="1234440" cy="5943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62288" y="427939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mask_water
.tif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96728" y="4425696"/>
            <a:ext cx="246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9A"/>
                </a:solidFill>
                <a:latin typeface="Calibri"/>
              </a:rPr>
              <a:t>&gt;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43616" y="4279392"/>
            <a:ext cx="1234440" cy="5943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43616" y="4279392"/>
            <a:ext cx="1234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RGB
Composite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CRTS — Centre Royal de Télédétection Spatiale  |  CCIP v1.0  |  Avril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TP1 — Graphe XML SNAP auto-généré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9A"/>
                </a:solidFill>
                <a:latin typeface="Calibri"/>
              </a:rPr>
              <a:t>_write_snap_graph_preprocess()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24128"/>
            <a:ext cx="45720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303520" cy="50292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Calibri"/>
              </a:rPr>
              <a:t>Chaîne de 8 opérateurs générée dynamiquement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320040" cy="384048"/>
          </a:xfrm>
          <a:prstGeom prst="rect">
            <a:avLst/>
          </a:prstGeom>
          <a:solidFill>
            <a:srgbClr val="60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0020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2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367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6367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809A"/>
                </a:solidFill>
                <a:latin typeface="Calibri"/>
              </a:rPr>
              <a:t>Lecture image Sentinel-1 .zip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984248"/>
            <a:ext cx="25603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03120"/>
            <a:ext cx="320040" cy="384048"/>
          </a:xfrm>
          <a:prstGeom prst="rect">
            <a:avLst/>
          </a:prstGeom>
          <a:solidFill>
            <a:srgbClr val="60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10312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2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1396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Subset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21396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809A"/>
                </a:solidFill>
                <a:latin typeface="Calibri"/>
              </a:rPr>
              <a:t>Découpage AOI (polygon WKT)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487168"/>
            <a:ext cx="25603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06040"/>
            <a:ext cx="320040" cy="3840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60604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2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642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Apply-Orbit-File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4912" y="264261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809A"/>
                </a:solidFill>
                <a:latin typeface="Calibri"/>
              </a:rPr>
              <a:t>Correction orbitale précise (DORIS)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2990088"/>
            <a:ext cx="25603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96F3"/>
                </a:solidFill>
                <a:latin typeface="Calibr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08960"/>
            <a:ext cx="320040" cy="3840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10896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2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1455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ThermalNoiseRemoval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4912" y="314553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809A"/>
                </a:solidFill>
                <a:latin typeface="Calibri"/>
              </a:rPr>
              <a:t>Suppression bruit thermique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3493008"/>
            <a:ext cx="25603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96F3"/>
                </a:solidFill>
                <a:latin typeface="Calibr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11880"/>
            <a:ext cx="320040" cy="38404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61188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2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48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Calibration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4912" y="36484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809A"/>
                </a:solidFill>
                <a:latin typeface="Calibri"/>
              </a:rPr>
              <a:t>DN → σ₀ (Sigma0) linéaire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3995928"/>
            <a:ext cx="25603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800"/>
                </a:solidFill>
                <a:latin typeface="Calibri"/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114800"/>
            <a:ext cx="320040" cy="38404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11480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2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1513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Speckle-Filter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24912" y="41513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809A"/>
                </a:solidFill>
                <a:latin typeface="Calibri"/>
              </a:rPr>
              <a:t>Refined Lee 7×7 pixels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4498848"/>
            <a:ext cx="25603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9800"/>
                </a:solidFill>
                <a:latin typeface="Calibri"/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617720"/>
            <a:ext cx="320040" cy="3840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461772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2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46542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Terrain-Correction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4912" y="46542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809A"/>
                </a:solidFill>
                <a:latin typeface="Calibri"/>
              </a:rPr>
              <a:t>Géocodage RTC  SRTM 10m  UTM auto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5001768"/>
            <a:ext cx="25603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CAF50"/>
                </a:solidFill>
                <a:latin typeface="Calibri"/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120640"/>
            <a:ext cx="320040" cy="3840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512064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2"/>
                </a:solidFill>
                <a:latin typeface="Calibr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1572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LinearToFromdB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24912" y="515721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809A"/>
                </a:solidFill>
                <a:latin typeface="Calibri"/>
              </a:rPr>
              <a:t>σ₀ → 10·log₁₀(σ₀)  en décibels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06440" y="1143000"/>
            <a:ext cx="6126480" cy="502920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120700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Calibri"/>
              </a:rPr>
              <a:t>Extrait XML généré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1554480"/>
            <a:ext cx="6035040" cy="4480560"/>
          </a:xfrm>
          <a:prstGeom prst="rect">
            <a:avLst/>
          </a:prstGeom>
          <a:solidFill>
            <a:srgbClr val="26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52160" y="1554480"/>
            <a:ext cx="36576" cy="44805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9320" y="1627632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FF"/>
                </a:solidFill>
                <a:latin typeface="Consolas"/>
              </a:rPr>
              <a:t>def _write_snap_graph_preprocess(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1874519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self, img, aoi, pol, px, dem, epsg, out):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2121408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# AOI → Polygone WKT automatique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2368296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geom = f'POLYGON(({aoi[lon_min]} {aoi[lat_min]},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89320" y="2615184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    {aoi[lon_max]} {aoi[lat_min]}, ...))'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89320" y="2862072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# Exécution via subprocess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89320" y="3108960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cmd = [SNAP_GPT, graph_xml,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9320" y="3355848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   "-c", "16G", "-q", "16"]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3602736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proc = subprocess.Popen(cmd, ...)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9320" y="3849624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# Log filtré ligne par ligne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4096512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for line in proc.stdout: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89320" y="4343400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if "%" in line or "INFO" in line: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4590288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    job.log(line, 'SNAP')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89320" y="4837176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return proc.returncode == 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CRTS — Centre Royal de Télédétection Spatiale  |  CCIP v1.0  |  Avril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TP1 — Calcul Différence &amp; Composite RGB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9A"/>
                </a:solidFill>
                <a:latin typeface="Calibri"/>
              </a:rPr>
              <a:t>Script QGIS Python  diff_rgb.py  généré dynamiquement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24128"/>
            <a:ext cx="45720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577840" cy="502920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Calibri"/>
              </a:rPr>
              <a:t>Alignement + Différence NumPy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394960" cy="4389120"/>
          </a:xfrm>
          <a:prstGeom prst="rect">
            <a:avLst/>
          </a:prstGeom>
          <a:solidFill>
            <a:srgbClr val="26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72768"/>
            <a:ext cx="36576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64592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1. Aligner l'image avant sur la grille après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9280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subprocess.run([gdalwarp,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13969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"-t_srs", f"EPSG:{epsg}",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38658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"-tr", str(abs(gt[1])), str(abs(gt[5])),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6334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"-te", xmin, ymin, xmax, ymax,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88036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"-r", "bilinear", before_db, aligned])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12724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3741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2. Lire les arrays NumPy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62102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bd = ds_before.GetRasterBand(1).ReadAsArray()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86791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ad = ds_after.GetRasterBand(1).ReadAsArray()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11480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bd, ad = bd[:rows,:cols], ad[:rows,:cols]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36168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60857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3. Différence dB et seuillage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5546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diff = bd - ad   # positif = perte signal = eau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10235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mask = (diff &gt; SEUIL).astype(np.int8)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3492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SEUIL = 3.0 dB (configurable)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143000"/>
            <a:ext cx="5897880" cy="502920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20700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  <a:latin typeface="Calibri"/>
              </a:rPr>
              <a:t>Composite RGB fausses couleurs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572768"/>
            <a:ext cx="5806440" cy="4389120"/>
          </a:xfrm>
          <a:prstGeom prst="rect">
            <a:avLst/>
          </a:prstGeom>
          <a:solidFill>
            <a:srgbClr val="26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1572768"/>
            <a:ext cx="36576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64592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FF"/>
                </a:solidFill>
                <a:latin typeface="Consolas"/>
              </a:rPr>
              <a:t>def stretch(a):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89280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# Étirement linéaire 2%–98%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139696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lo = np.percentile(a[np.isfinite(a)], 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386584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hi = np.percentile(a[np.isfinite(a)], 98)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63347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s = np.clip((a-lo)/(hi-lo)*255, 0, 255)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88036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return s.astype(np.uint8)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12724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374136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3 bandes GeoTIFF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621024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o = drv.Create(rgb_tif, cols, rows, 3,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86791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         gdal.GDT_Byte)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11480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Bande 1 Rouge  = avant (zones inondées)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36168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o.GetRasterBand(1).WriteArray(stretch(bd))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608576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Bande 2 Verte  = après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855464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o.GetRasterBand(2).WriteArray(stretch(ad))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10235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Bande 3 Bleue  = après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34924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o.GetRasterBand(3).WriteArray(stretch(ad))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59612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→ zones inondées apparaissent en ROUGE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CRTS — Centre Royal de Télédétection Spatiale  |  CCIP v1.0  |  Avril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TP2 — Seuillage Image Unique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9A"/>
                </a:solidFill>
                <a:latin typeface="Calibri"/>
              </a:rPr>
              <a:t>_write_snap_graph_tp2()  —  un seul graphe SNAP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24128"/>
            <a:ext cx="4572000" cy="228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3200400" cy="50292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64008" cy="5029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  <a:latin typeface="Calibri"/>
              </a:rPr>
              <a:t>Principe &amp; différence avec TP1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Une seule image post-événement.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L'eau libre en polarisation VH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présente un σ₀ très faible :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surface spéculaire calme.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Seuil absolu :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σ₀_VH_dB  &lt;  −26 dB  →  eau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Intégré directement dans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le graphe SNAP via BandMaths.</a:t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D0DCE8"/>
                </a:solidFill>
                <a:latin typeface="Calibri"/>
              </a:rPr>
              <a:t>Pas de script QGIS secondaire.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143000"/>
            <a:ext cx="3931920" cy="22860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143000"/>
            <a:ext cx="64008" cy="2286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207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  <a:latin typeface="Calibri"/>
              </a:rPr>
              <a:t>Point critique — Échappement XML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1554480"/>
            <a:ext cx="3840480" cy="1737360"/>
          </a:xfrm>
          <a:prstGeom prst="rect">
            <a:avLst/>
          </a:prstGeom>
          <a:solidFill>
            <a:srgbClr val="26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1554480"/>
            <a:ext cx="36576" cy="17373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162763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INCORRECT → SNAP code 1 (silencieux)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874519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expr = f'Sigma0_{pol}_db &lt; {seuil}'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12140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36829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CORRECT — &lt; échappé en &amp;lt;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61518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expr = f'Sigma0_{pol}_db &amp;lt; {seuil}'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86207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&amp;lt; = entité XML pour le char &lt;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566160"/>
            <a:ext cx="3931920" cy="26060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3630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Comparatif TP1 vs TP2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4005072"/>
            <a:ext cx="384048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7328" y="4050791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809A"/>
                </a:solidFill>
                <a:latin typeface="Calibri"/>
              </a:rPr>
              <a:t>Images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050791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96F3"/>
                </a:solidFill>
                <a:latin typeface="Calibri"/>
              </a:rPr>
              <a:t>2 (avant+après)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50791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800"/>
                </a:solidFill>
                <a:latin typeface="Calibri"/>
              </a:rPr>
              <a:t>1 (après seul)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4398264"/>
            <a:ext cx="3840480" cy="37490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7328" y="4443983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809A"/>
                </a:solidFill>
                <a:latin typeface="Calibri"/>
              </a:rPr>
              <a:t>Méthode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4443983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96F3"/>
                </a:solidFill>
                <a:latin typeface="Calibri"/>
              </a:rPr>
              <a:t>Diff. relative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443983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800"/>
                </a:solidFill>
                <a:latin typeface="Calibri"/>
              </a:rPr>
              <a:t>Seuil absolu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4791456"/>
            <a:ext cx="384048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67328" y="483717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809A"/>
                </a:solidFill>
                <a:latin typeface="Calibri"/>
              </a:rPr>
              <a:t>Chaînes SNAP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83717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96F3"/>
                </a:solidFill>
                <a:latin typeface="Calibri"/>
              </a:rPr>
              <a:t>2 séparées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83717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800"/>
                </a:solidFill>
                <a:latin typeface="Calibri"/>
              </a:rPr>
              <a:t>1 avec BandMaths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3320" y="5184648"/>
            <a:ext cx="3840480" cy="374904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67328" y="5230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809A"/>
                </a:solidFill>
                <a:latin typeface="Calibri"/>
              </a:rPr>
              <a:t>Seuil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5230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96F3"/>
                </a:solidFill>
                <a:latin typeface="Calibri"/>
              </a:rPr>
              <a:t>3 dB (relatif)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23036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800"/>
                </a:solidFill>
                <a:latin typeface="Calibri"/>
              </a:rPr>
              <a:t>−26 dB (absolu)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5577840"/>
            <a:ext cx="3840480" cy="374904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67328" y="5623559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809A"/>
                </a:solidFill>
                <a:latin typeface="Calibri"/>
              </a:rPr>
              <a:t>Eaux perm.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80" y="5623559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96F3"/>
                </a:solidFill>
                <a:latin typeface="Calibri"/>
              </a:rPr>
              <a:t>Éliminées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623559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800"/>
                </a:solidFill>
                <a:latin typeface="Calibri"/>
              </a:rPr>
              <a:t>Incluses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18120" y="1143000"/>
            <a:ext cx="4114800" cy="502920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12070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  <a:latin typeface="Calibri"/>
              </a:rPr>
              <a:t>Opérateur BandMaths dans le graphe XML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1572768"/>
            <a:ext cx="4023360" cy="4389120"/>
          </a:xfrm>
          <a:prstGeom prst="rect">
            <a:avLst/>
          </a:prstGeom>
          <a:solidFill>
            <a:srgbClr val="26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63840" y="1572768"/>
            <a:ext cx="36576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1000" y="164592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Nœud BandMaths ajouté après LinearToFromdB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189280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&lt;node id='BandMaths'&gt;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213969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&lt;operator&gt;BandMaths&lt;/operator&gt;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238658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&lt;sources&gt;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263347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&lt;sourceProduct refid='LinearToFromdB'/&gt;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288036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&lt;/sources&gt;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0" y="312724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&lt;parameters&gt;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337413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&lt;targetBands&gt;&lt;targetBand&gt;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362102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&lt;name&gt;inondation&lt;/name&gt;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386791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&lt;type&gt;int8&lt;/type&gt;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0" y="411480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  &lt;!-- &amp;lt; = &lt; en XML --&gt;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0" y="436168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&lt;expression&gt;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460857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  Sigma0_VH_db &amp;lt; -26.0 ? 1 : 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1000" y="48554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&lt;/expression&gt;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01000" y="510235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&lt;noDataValue&gt;-1&lt;/noDataValue&gt;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01000" y="534924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&lt;/targetBand&gt;&lt;/targetBands&gt;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559612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&lt;/parameters&gt;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CRTS — Centre Royal de Télédétection Spatiale  |  CCIP v1.0  |  Avril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TP3 — Vectorisation &amp; Statistiques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9A"/>
                </a:solidFill>
                <a:latin typeface="Calibri"/>
              </a:rPr>
              <a:t>6 étapes — tp3_process.py généré dynamiquement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24128"/>
            <a:ext cx="4572000" cy="228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3749039" cy="23774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3749039" cy="3840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14300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A  —  Lissage Gaussien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  <a:latin typeface="Calibri"/>
              </a:rPr>
              <a:t>scipy.ndimage.gaussian_filter  σ=2.0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8424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Sigma=2 ≈ rayon 20m à 10m/pixel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Élimine speckle résiduel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Adoucit contours avant vectorisation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5384" y="1143000"/>
            <a:ext cx="3749039" cy="23774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5384" y="1143000"/>
            <a:ext cx="3749039" cy="3840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5384" y="114300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B  —  Natural Breaks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  <a:latin typeface="Calibri"/>
              </a:rPr>
              <a:t>K-means 2 clusters  seuil adaptatif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198424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K-means sur pixels valides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Seuil = moyenne des 2 centroïdes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S'adapte à chaque image (pas fixe)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2168" y="1143000"/>
            <a:ext cx="3749039" cy="23774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8" y="1143000"/>
            <a:ext cx="3749039" cy="3840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14300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C  —  Polygonize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  <a:latin typeface="Calibri"/>
              </a:rPr>
              <a:t>gdal.Polygonize()  API Python directe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98424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API Python (pas subprocess)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Évite dépendances Python système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Garanti GDAL du bon environnement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749039"/>
            <a:ext cx="3749039" cy="23774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749039"/>
            <a:ext cx="3749039" cy="3840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3749039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D  —  Filtrage surface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206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  <a:latin typeface="Calibri"/>
              </a:rPr>
              <a:t>Boucle OGR  area_ha &gt;= 0.5 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59028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gridcode==2 → classe eau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area_ha = geom.Area()/10000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Configurable (défaut 0.5 ha)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15384" y="3749039"/>
            <a:ext cx="3749039" cy="23774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15384" y="3749039"/>
            <a:ext cx="3749039" cy="38404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15384" y="3749039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E  —  Intersection GADM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2544" y="4206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  <a:latin typeface="Calibri"/>
              </a:rPr>
              <a:t>ogr.Intersection()  1 515 communes L4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2544" y="459028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Reprojection WGS84 avant intersection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SetSpatialFilterRect pour perf.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ha_per_sq_deg selon latitude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02168" y="3749039"/>
            <a:ext cx="3749039" cy="23774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02168" y="3749039"/>
            <a:ext cx="3749039" cy="3840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3749039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2"/>
                </a:solidFill>
                <a:latin typeface="Calibri"/>
              </a:rPr>
              <a:t>F  —  Export CSV + Rapport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4206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FF"/>
                </a:solidFill>
                <a:latin typeface="Calibri"/>
              </a:rPr>
              <a:t>csv.writer  +  rapport.html auto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459028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CSV global + 1 CSV par province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Tri surface décroissante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- rapport.html auto depuis les stats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CRTS — Centre Royal de Télédétection Spatiale  |  CCIP v1.0  |  Avril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TP3 — Lissage Gaussien &amp; Natural Breaks (A + 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9A"/>
                </a:solidFill>
                <a:latin typeface="Calibri"/>
              </a:rPr>
              <a:t>Étapes de préparation du raster avant vectorisation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24128"/>
            <a:ext cx="4572000" cy="228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577840" cy="502920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  <a:latin typeface="Calibri"/>
              </a:rPr>
              <a:t>A — Lissage Gaussien  (scipy.ndimage)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394960" cy="4389120"/>
          </a:xfrm>
          <a:prstGeom prst="rect">
            <a:avLst/>
          </a:prstGeom>
          <a:solidFill>
            <a:srgbClr val="26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72768"/>
            <a:ext cx="36576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64592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from scipy.ndimage import gaussian_filter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9280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13969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Lecture du masque eau (binaire 0/1)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38658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ds   = gdal.Open(mask_water)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6334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data = ds.GetRasterBand(1).ReadAsArray()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88036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gt   = ds.GetGeoTransform()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12724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prj  = ds.GetProjection()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3741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62102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sigma=2.0 → rayon ~20m à résolution 10m/px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86791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Comble les petits trous, lisse les contours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11480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sm = gaussian_filter(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36168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   data.astype(np.float64),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60857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     sigma=2.0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5546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10235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3492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Sauvegarde raster lissé (Float32)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559612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o = drv.Create(smoothed_tif, nx, ny, 1,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143000"/>
            <a:ext cx="5897880" cy="502920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20700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  <a:latin typeface="Calibri"/>
              </a:rPr>
              <a:t>B — Reclassification K-means Natural Breaks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572768"/>
            <a:ext cx="5806440" cy="4389120"/>
          </a:xfrm>
          <a:prstGeom prst="rect">
            <a:avLst/>
          </a:prstGeom>
          <a:solidFill>
            <a:srgbClr val="26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1572768"/>
            <a:ext cx="36576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64592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from scipy.cluster.vq import kmeans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89280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139696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Lire raster lissé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386584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data = gdal.Open(smoothed_tif)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63347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 .GetRasterBand(1).ReadAsArray()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88036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valid = data[np.isfinite(data)].flatten()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12724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374136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Sous-échantillon si &gt; 500 000 pixels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621024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if len(valid) &gt; 500_000: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86791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idx   = np.random.choice(len(valid),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11480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                       500_000,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36168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                         replace=False)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608576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samp  = valid[idx]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855464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10235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K-means 2 clusters (eau / non-eau)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34924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centroides, _ = kmeans(samp,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59612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CRTS — Centre Royal de Télédétection Spatiale  |  CCIP v1.0  |  Avril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TP3 — Vectorisation &amp; Filtrage (C + 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9A"/>
                </a:solidFill>
                <a:latin typeface="Calibri"/>
              </a:rPr>
              <a:t>gdal.Polygonize() API — OGR surface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24128"/>
            <a:ext cx="4572000" cy="228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577840" cy="502920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Calibri"/>
              </a:rPr>
              <a:t>C — gdal.Polygonize() API 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394960" cy="4389120"/>
          </a:xfrm>
          <a:prstGeom prst="rect">
            <a:avLst/>
          </a:prstGeom>
          <a:solidFill>
            <a:srgbClr val="26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72768"/>
            <a:ext cx="36576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64592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from osgeo import gdal, ogr, osr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9280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13969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Ouvrir le raster reclassifié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38658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ds_r   = gdal.Open(reclass_tif)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6334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band_r = ds_r.GetRasterBand(1)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88036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12724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Créer le shapefile de sortie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3741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drv_shp = ogr.GetDriverByName('ESRI Shapefile')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62102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raw_ds  = drv_shp.CreateDataSource(raw_shp)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86791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raw_srs = osr.SpatialReference()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11480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raw_srs.ImportFromWkt(ds_r.GetProjection())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36168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raw_lay = raw_ds.CreateLayer('zi',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60857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          srs=raw_srs,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5546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          geom_type=ogr.wkbPolygon)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10235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fd = ogr.FieldDefn('gridcode', ogr.OFTInteger)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3492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raw_lay.CreateField(fd)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559612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143000"/>
            <a:ext cx="5897880" cy="502920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20700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Calibri"/>
              </a:rPr>
              <a:t>D — Filtrage surface minimale  (OGR)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572768"/>
            <a:ext cx="5806440" cy="4389120"/>
          </a:xfrm>
          <a:prstGeom prst="rect">
            <a:avLst/>
          </a:prstGeom>
          <a:solidFill>
            <a:srgbClr val="26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1572768"/>
            <a:ext cx="36576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64592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AREA_MIN = 0.5  # hectares (configurable)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89280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139696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src_lay = ogr.Open(raw_shp).GetLayer()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386584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n_ok, n_skip = 0,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63347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88036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for feat in src_lay: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12724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# Garder seulement classe 2 (eau)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374136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if feat.GetField('gridcode') != 2: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621024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  continue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86791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11480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geom = feat.GetGeometryRef()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36168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if geom is None: continue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608576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855464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# Area() retourne m² (proj. UTM)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10235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area_ha = geom.Area() / 10_000.0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34924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59612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if area_ha &lt; AREA_MIN: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CRTS — Centre Royal de Télédétection Spatiale  |  CCIP v1.0  |  Avril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TP3 — Intersection GADM &amp; Statistiques (E + 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9A"/>
                </a:solidFill>
                <a:latin typeface="Calibri"/>
              </a:rPr>
              <a:t>OGR intersection  +  CSV par commune / province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24128"/>
            <a:ext cx="4572000" cy="228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577840" cy="502920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  <a:latin typeface="Calibri"/>
              </a:rPr>
              <a:t>E — Intersection OGR avec GADM Level 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394960" cy="4389120"/>
          </a:xfrm>
          <a:prstGeom prst="rect">
            <a:avLst/>
          </a:prstGeom>
          <a:solidFill>
            <a:srgbClr val="26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72768"/>
            <a:ext cx="36576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64592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Reprojeter ZI en WGS84 (= proj. GADM)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9280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wgs84 = osr.SpatialReference()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13969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wgs84.ImportFromEPSG(4326)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38658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tr = osr.CoordinateTransformation(zi_srs, wgs84)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6334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88036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Union de tous les polygones ZI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12724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zi_union = ogr.Geometry(ogr.wkbMultiPolygon)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3741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for feat in zi_lay: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62102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zi_union = zi_union.Union(feat.GetGeometryRef())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86791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11480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Pré-filtre spatial → évite 1515 intersections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36168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env = zi_union.GetEnvelope()   # xmin,xmax,ymin,ymax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60857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com_lay.SetSpatialFilterRect(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5546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env[0], env[2], env[1], env[3])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10235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3492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Conversion degrés → ha selon latitude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559612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lat0      = (env[2]+env[3])/2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143000"/>
            <a:ext cx="5897880" cy="502920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20700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  <a:latin typeface="Calibri"/>
              </a:rPr>
              <a:t>F — Export CSV + Rapport HTML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572768"/>
            <a:ext cx="5806440" cy="4389120"/>
          </a:xfrm>
          <a:prstGeom prst="rect">
            <a:avLst/>
          </a:prstGeom>
          <a:solidFill>
            <a:srgbClr val="263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1572768"/>
            <a:ext cx="36576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64592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CSV global toutes communes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89280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with open(stats_csv, 'w') as f: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139696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w = csv.writer(f)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386584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w.writerow(['Region','Province',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63347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          'Commune','Surface_ZI_ha'])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88036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# Tri par surface décroissante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12724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for (r,p,c),a in sorted(stats.items(),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374136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                key=lambda x:(x[0][1],-x[1])):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621024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    w.writerow([r, p, c, f'{a:.2f}'])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86791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w.writerow(['TOTAL','','',total])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11480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36168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CAF50"/>
                </a:solidFill>
                <a:latin typeface="Consolas"/>
              </a:rPr>
              <a:t># Un CSV par province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608576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for (r, p), communes in by_province.items():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855464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fn = prov_dir / f'{p}.csv'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102352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# Communes triées par surface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349240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CE8"/>
                </a:solidFill>
                <a:latin typeface="Consolas"/>
              </a:rPr>
              <a:t>    for c, a in sorted(communes,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596128"/>
            <a:ext cx="56235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800"/>
                </a:solidFill>
                <a:latin typeface="Consolas"/>
              </a:rPr>
              <a:t>                        key=lambda x: -x[1]):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CRTS — Centre Royal de Télédétection Spatiale  |  CCIP v1.0  |  Avril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Tableau Récapitulatif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9A"/>
                </a:solidFill>
                <a:latin typeface="Calibri"/>
              </a:rPr>
              <a:t>Manuel → Automatisé  pour chaque étape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24128"/>
            <a:ext cx="45720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463040" cy="32918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1612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422"/>
                </a:solidFill>
                <a:latin typeface="Calibri"/>
              </a:rPr>
              <a:t>Étape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9928" y="1143000"/>
            <a:ext cx="3474720" cy="32918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161288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422"/>
                </a:solidFill>
                <a:latin typeface="Calibri"/>
              </a:rPr>
              <a:t>Action manuelle (SNAP/QGIS)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143000"/>
            <a:ext cx="3749039" cy="32918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1161288"/>
            <a:ext cx="36575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422"/>
                </a:solidFill>
                <a:latin typeface="Calibri"/>
              </a:rPr>
              <a:t>Automatisation CCIP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79408" y="1143000"/>
            <a:ext cx="2743200" cy="32918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34272" y="116128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422"/>
                </a:solidFill>
                <a:latin typeface="Calibri"/>
              </a:rPr>
              <a:t>Technologie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490472"/>
            <a:ext cx="146304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09928" y="1490472"/>
            <a:ext cx="347472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1490472"/>
            <a:ext cx="3749039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79408" y="1490472"/>
            <a:ext cx="274320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1490472"/>
            <a:ext cx="54864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56362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Calibri"/>
              </a:rPr>
              <a:t>TP1 — SNAP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1563624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2x chaîne manuelle SNAP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1563624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2 graphes XML auto-générés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156362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subprocess + gpt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1993391"/>
            <a:ext cx="1463040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09928" y="1993391"/>
            <a:ext cx="3474720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80" y="1993391"/>
            <a:ext cx="3749039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79408" y="1993391"/>
            <a:ext cx="2743200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1993391"/>
            <a:ext cx="54864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066543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Calibri"/>
              </a:rPr>
              <a:t>TP1 — Diff.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2066543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Calculatrice raster QGIS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2066543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NumPy: bd−ad &gt; 3dB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206654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NumPy / GDAL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496312"/>
            <a:ext cx="146304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09928" y="2496312"/>
            <a:ext cx="347472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12080" y="2496312"/>
            <a:ext cx="3749039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79408" y="2496312"/>
            <a:ext cx="274320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2496312"/>
            <a:ext cx="54864" cy="4754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56946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Calibri"/>
              </a:rPr>
              <a:t>TP1 — RGB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5648" y="2569464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Outil RGB QGIS manuel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2569464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GDAL GeoTIFF 3 bandes + stretch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25128" y="256946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GDAL Python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2999232"/>
            <a:ext cx="1463040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09928" y="2999232"/>
            <a:ext cx="3474720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12080" y="2999232"/>
            <a:ext cx="3749039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79408" y="2999232"/>
            <a:ext cx="2743200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" y="2999232"/>
            <a:ext cx="54864" cy="47548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307238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800"/>
                </a:solidFill>
                <a:latin typeface="Calibri"/>
              </a:rPr>
              <a:t>TP2 — SNAP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55648" y="3072384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BandMaths SNAP manuel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3072384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BandMaths intégré au graphe XML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25128" y="307238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XML &amp;lt; échappé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3502152"/>
            <a:ext cx="146304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709928" y="3502152"/>
            <a:ext cx="347472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12080" y="3502152"/>
            <a:ext cx="3749039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979408" y="3502152"/>
            <a:ext cx="274320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8600" y="3502152"/>
            <a:ext cx="54864" cy="4754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57530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50"/>
                </a:solidFill>
                <a:latin typeface="Calibri"/>
              </a:rPr>
              <a:t>TP3 — Lissage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55648" y="3575304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Plugin lissage QGIS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57800" y="3575304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gaussian_filter(sigma=2.0)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25128" y="357530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scipy.ndimage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" y="4005072"/>
            <a:ext cx="1463040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709928" y="4005072"/>
            <a:ext cx="3474720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2080" y="4005072"/>
            <a:ext cx="3749039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979408" y="4005072"/>
            <a:ext cx="2743200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28600" y="4005072"/>
            <a:ext cx="54864" cy="4754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407822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50"/>
                </a:solidFill>
                <a:latin typeface="Calibri"/>
              </a:rPr>
              <a:t>TP3 — Reclass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55648" y="4078224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Seuil visuel manuel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57800" y="4078224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K-means 2 clusters adaptatif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25128" y="407822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scipy.cluster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4507992"/>
            <a:ext cx="146304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709928" y="4507992"/>
            <a:ext cx="347472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212080" y="4507992"/>
            <a:ext cx="3749039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79408" y="4507992"/>
            <a:ext cx="274320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28600" y="4507992"/>
            <a:ext cx="54864" cy="4754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0040" y="458114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50"/>
                </a:solidFill>
                <a:latin typeface="Calibri"/>
              </a:rPr>
              <a:t>TP3 — Vect.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55648" y="4581144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gdal_polygonize (terminal)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57800" y="4581144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gdal.Polygonize() API Python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25128" y="458114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osgeo.gdal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5010912"/>
            <a:ext cx="1463040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709928" y="5010912"/>
            <a:ext cx="3474720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212080" y="5010912"/>
            <a:ext cx="3749039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979408" y="5010912"/>
            <a:ext cx="2743200" cy="47548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28600" y="5010912"/>
            <a:ext cx="54864" cy="4754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040" y="508406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50"/>
                </a:solidFill>
                <a:latin typeface="Calibri"/>
              </a:rPr>
              <a:t>TP3 — Stats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55648" y="5084064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Calc. champs + export QGIS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57800" y="5084064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OGR Intersection GADM + CSV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25128" y="508406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osgeo.ogr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8600" y="5513832"/>
            <a:ext cx="146304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709928" y="5513832"/>
            <a:ext cx="347472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212080" y="5513832"/>
            <a:ext cx="3749039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979408" y="5513832"/>
            <a:ext cx="2743200" cy="47548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28600" y="5513832"/>
            <a:ext cx="54864" cy="4754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0040" y="558698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50"/>
                </a:solidFill>
                <a:latin typeface="Calibri"/>
              </a:rPr>
              <a:t>Rapport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55648" y="5586984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5350"/>
                </a:solidFill>
                <a:latin typeface="Calibri"/>
              </a:rPr>
              <a:t>✗ Rédaction manuelle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57800" y="5586984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AF50"/>
                </a:solidFill>
                <a:latin typeface="Calibri"/>
              </a:rPr>
              <a:t>✓ HTML auto depuis stats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25128" y="558698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FF"/>
                </a:solidFill>
                <a:latin typeface="Calibri"/>
              </a:rPr>
              <a:t>Python + csv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CRTS — Centre Royal de Télédétection Spatiale  |  CCIP v1.0  |  Avril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Résultats — Inondations Gharb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9A"/>
                </a:solidFill>
                <a:latin typeface="Calibri"/>
              </a:rPr>
              <a:t>Validation du pipeline complet sur cas réel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24128"/>
            <a:ext cx="4572000" cy="228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2834640" cy="10058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2834640" cy="7315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26187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44336"/>
                </a:solidFill>
                <a:latin typeface="Calibri"/>
              </a:rPr>
              <a:t>1 678 155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76479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CE8"/>
                </a:solidFill>
                <a:latin typeface="Calibri"/>
              </a:rPr>
              <a:t>ha inondés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143000"/>
            <a:ext cx="2834640" cy="10058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1143000"/>
            <a:ext cx="283464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26187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9800"/>
                </a:solidFill>
                <a:latin typeface="Calibri"/>
              </a:rPr>
              <a:t>165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176479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CE8"/>
                </a:solidFill>
                <a:latin typeface="Calibri"/>
              </a:rPr>
              <a:t>communes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143000"/>
            <a:ext cx="2834640" cy="10058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143000"/>
            <a:ext cx="2834640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126187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196F3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76479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CE8"/>
                </a:solidFill>
                <a:latin typeface="Calibri"/>
              </a:rPr>
              <a:t>provinces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1143000"/>
            <a:ext cx="2834640" cy="100584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98864" y="1143000"/>
            <a:ext cx="283464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864" y="126187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CAF50"/>
                </a:solidFill>
                <a:latin typeface="Calibri"/>
              </a:rPr>
              <a:t>2 min 25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176479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CE8"/>
                </a:solidFill>
                <a:latin typeface="Calibri"/>
              </a:rPr>
              <a:t>durée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286000"/>
            <a:ext cx="5303520" cy="18288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3500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Calibri"/>
              </a:rPr>
              <a:t>Paramètres du job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72491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Image avant :  S1A_IW_GRDH_1SDV_20260122T062746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Image après :  S1A_IW_GRDH_1SDV_20260203T062746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Mode :  TP1 (Avant/Après)  |  Polar. : VH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AOI :  lon [−6.8, −4.8]  lat [33.5, 35.8]</a:t>
            </a:r>
          </a:p>
          <a:p>
            <a:pPr algn="l"/>
            <a:r>
              <a:rPr sz="1100" b="0">
                <a:solidFill>
                  <a:srgbClr val="D0DCE8"/>
                </a:solidFill>
                <a:latin typeface="Calibri"/>
              </a:rPr>
              <a:t>EPSG :  32630 (UTM 30N — auto-détecté)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2286000"/>
            <a:ext cx="6126480" cy="31089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59" y="2286000"/>
            <a:ext cx="21214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422"/>
                </a:solidFill>
                <a:latin typeface="Calibri"/>
              </a:rPr>
              <a:t>Province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2286000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422"/>
                </a:solidFill>
                <a:latin typeface="Calibri"/>
              </a:rPr>
              <a:t>Surface (ha)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286000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422"/>
                </a:solidFill>
                <a:latin typeface="Calibri"/>
              </a:rPr>
              <a:t>Part (%)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3928" y="2286000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422"/>
                </a:solidFill>
                <a:latin typeface="Calibri"/>
              </a:rPr>
              <a:t>Rang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2615184"/>
            <a:ext cx="6126480" cy="4572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24728" y="2688336"/>
            <a:ext cx="2103120" cy="30175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70448" y="2697479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Chefchaouen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269747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417,584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2697479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24.9%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53928" y="2697479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809A"/>
                </a:solidFill>
                <a:latin typeface="Calibri"/>
              </a:rPr>
              <a:t>#1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3090672"/>
            <a:ext cx="6126480" cy="45720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4728" y="3163824"/>
            <a:ext cx="1395168" cy="3017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70448" y="31729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Larache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17296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277,017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317296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16.5%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53928" y="3172968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809A"/>
                </a:solidFill>
                <a:latin typeface="Calibri"/>
              </a:rPr>
              <a:t>#2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3566160"/>
            <a:ext cx="6126480" cy="4572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24728" y="3639312"/>
            <a:ext cx="1347866" cy="3017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70448" y="36484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Sidi Kacem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8" y="36484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267,625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37776" y="364845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15.9%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53928" y="3648456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809A"/>
                </a:solidFill>
                <a:latin typeface="Calibri"/>
              </a:rPr>
              <a:t>#3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4041648"/>
            <a:ext cx="6126480" cy="45720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24728" y="4114800"/>
            <a:ext cx="1239573" cy="3017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70448" y="412394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Tétouan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65008" y="412394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246,123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37776" y="412394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14.7%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53928" y="4123944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809A"/>
                </a:solidFill>
                <a:latin typeface="Calibri"/>
              </a:rPr>
              <a:t>#4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06440" y="4517136"/>
            <a:ext cx="6126480" cy="4572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24728" y="4590288"/>
            <a:ext cx="1150882" cy="3017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70448" y="4599431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Kénitra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65008" y="4599431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228,513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37776" y="4599431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13.6%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53928" y="4599431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809A"/>
                </a:solidFill>
                <a:latin typeface="Calibri"/>
              </a:rPr>
              <a:t>#5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06440" y="4992624"/>
            <a:ext cx="6126480" cy="45720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24728" y="5065776"/>
            <a:ext cx="562716" cy="3017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70448" y="5074920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Taounate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65008" y="50749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111,730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37776" y="50749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6.7%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3928" y="507492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809A"/>
                </a:solidFill>
                <a:latin typeface="Calibri"/>
              </a:rPr>
              <a:t>#6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06440" y="5468112"/>
            <a:ext cx="6126480" cy="457200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4728" y="5541264"/>
            <a:ext cx="460009" cy="3017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70448" y="555040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Tanger-Assilah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65008" y="555040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91,337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37776" y="555040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5.4%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53928" y="5550408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809A"/>
                </a:solidFill>
                <a:latin typeface="Calibri"/>
              </a:rPr>
              <a:t>#7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06440" y="5943600"/>
            <a:ext cx="6126480" cy="45720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824728" y="6016752"/>
            <a:ext cx="192521" cy="3017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70448" y="602589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Fahs Anjra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65008" y="602589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FF"/>
                </a:solidFill>
                <a:latin typeface="Calibri"/>
              </a:rPr>
              <a:t>38,226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37776" y="602589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Calibri"/>
              </a:rPr>
              <a:t>2.3%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53928" y="6025896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809A"/>
                </a:solidFill>
                <a:latin typeface="Calibri"/>
              </a:rPr>
              <a:t>#8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809A"/>
                </a:solidFill>
                <a:latin typeface="Calibri"/>
              </a:rPr>
              <a:t>CRTS — Centre Royal de Télédétection Spatiale  |  CCIP v1.0  |  Avril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